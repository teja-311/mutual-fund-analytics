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Monda" charset="1" panose="02000503000000000000"/>
      <p:regular r:id="rId19"/>
    </p:embeddedFont>
    <p:embeddedFont>
      <p:font typeface="Merriweather Sans" charset="1" panose="00000500000000000000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10297" y="1221543"/>
            <a:ext cx="7636558" cy="165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5"/>
              </a:lnSpc>
            </a:pPr>
            <a:r>
              <a:rPr lang="en-US" sz="4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MUTUAL FUND ANALYTICS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58182" y="3872215"/>
            <a:ext cx="8340788" cy="127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5"/>
              </a:lnSpc>
              <a:spcBef>
                <a:spcPct val="0"/>
              </a:spcBef>
            </a:pPr>
            <a:r>
              <a:rPr lang="en-US" sz="366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Bluestock Data Science Internship Capstone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1889" y="6619823"/>
            <a:ext cx="3952250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6"/>
              </a:lnSpc>
            </a:pPr>
            <a:r>
              <a:rPr lang="en-US" sz="25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Prepared By: Tejashwini.B</a:t>
            </a:r>
          </a:p>
          <a:p>
            <a:pPr algn="ctr">
              <a:lnSpc>
                <a:spcPts val="3526"/>
              </a:lnSpc>
            </a:pPr>
            <a:r>
              <a:rPr lang="en-US" sz="25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 Used:</a:t>
            </a:r>
          </a:p>
          <a:p>
            <a:pPr algn="ctr" marL="543832" indent="-271916" lvl="1">
              <a:lnSpc>
                <a:spcPts val="3526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algn="ctr" marL="543832" indent="-271916" lvl="1">
              <a:lnSpc>
                <a:spcPts val="3526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SQLite</a:t>
            </a:r>
          </a:p>
          <a:p>
            <a:pPr algn="ctr" marL="543832" indent="-271916" lvl="1">
              <a:lnSpc>
                <a:spcPts val="3526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BI</a:t>
            </a:r>
          </a:p>
          <a:p>
            <a:pPr algn="ctr" marL="543832" indent="-271916" lvl="1">
              <a:lnSpc>
                <a:spcPts val="3526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</a:t>
            </a:r>
          </a:p>
          <a:p>
            <a:pPr algn="ctr">
              <a:lnSpc>
                <a:spcPts val="352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67134" y="1626405"/>
            <a:ext cx="9553732" cy="104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6"/>
              </a:lnSpc>
            </a:pPr>
            <a:r>
              <a:rPr lang="en-US" sz="609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09785" y="3652285"/>
            <a:ext cx="10468431" cy="560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Problem: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Investors face difficulties in: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Comparing mutual funds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Understanding risk and return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Tracking SIP trends</a:t>
            </a:r>
          </a:p>
          <a:p>
            <a:pPr algn="l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Evaluating portfolio diversification</a:t>
            </a:r>
          </a:p>
          <a:p>
            <a:pPr algn="l">
              <a:lnSpc>
                <a:spcPts val="4432"/>
              </a:lnSpc>
            </a:pPr>
            <a:r>
              <a:rPr lang="en-US" sz="31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an end-to-end analytics platform for mutual fund analysis and decision support.</a:t>
            </a:r>
          </a:p>
          <a:p>
            <a:pPr algn="l">
              <a:lnSpc>
                <a:spcPts val="44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47561" y="3765978"/>
            <a:ext cx="8748535" cy="3586899"/>
          </a:xfrm>
          <a:custGeom>
            <a:avLst/>
            <a:gdLst/>
            <a:ahLst/>
            <a:cxnLst/>
            <a:rect r="r" b="b" t="t" l="l"/>
            <a:pathLst>
              <a:path h="3586899" w="8748535">
                <a:moveTo>
                  <a:pt x="0" y="0"/>
                </a:moveTo>
                <a:lnTo>
                  <a:pt x="8748535" y="0"/>
                </a:lnTo>
                <a:lnTo>
                  <a:pt x="8748535" y="3586899"/>
                </a:lnTo>
                <a:lnTo>
                  <a:pt x="0" y="35868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9903" y="1408595"/>
            <a:ext cx="11228195" cy="110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36"/>
              </a:lnSpc>
            </a:pPr>
            <a:r>
              <a:rPr lang="en-US" sz="64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DATA 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7550" y="3546507"/>
            <a:ext cx="4631361" cy="626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Datasets Used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Fund Master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NAV History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AUM Data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SIP Inflows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Category Inflows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Folio Count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Scheme Performance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Investor Transactions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Portfolio Holdings</a:t>
            </a:r>
          </a:p>
          <a:p>
            <a:pPr algn="l" marL="640308" indent="-320154" lvl="1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Benchmark Indices</a:t>
            </a:r>
          </a:p>
          <a:p>
            <a:pPr algn="l">
              <a:lnSpc>
                <a:spcPts val="415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64309" y="1497433"/>
            <a:ext cx="11228195" cy="89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6"/>
              </a:lnSpc>
            </a:pPr>
            <a:r>
              <a:rPr lang="en-US" sz="52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0148" y="3326568"/>
            <a:ext cx="4727705" cy="627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Raw Data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ETL Pipeline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SQLite Database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EDA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 Analytics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Analytics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BI Dashboard</a:t>
            </a:r>
          </a:p>
          <a:p>
            <a:pPr algn="l">
              <a:lnSpc>
                <a:spcPts val="3305"/>
              </a:lnSpc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l">
              <a:lnSpc>
                <a:spcPts val="3305"/>
              </a:lnSpc>
              <a:spcBef>
                <a:spcPct val="0"/>
              </a:spcBef>
            </a:pPr>
            <a:r>
              <a:rPr lang="en-US" sz="23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29903" y="3703578"/>
            <a:ext cx="11802317" cy="5396519"/>
          </a:xfrm>
          <a:custGeom>
            <a:avLst/>
            <a:gdLst/>
            <a:ahLst/>
            <a:cxnLst/>
            <a:rect r="r" b="b" t="t" l="l"/>
            <a:pathLst>
              <a:path h="5396519" w="11802317">
                <a:moveTo>
                  <a:pt x="0" y="0"/>
                </a:moveTo>
                <a:lnTo>
                  <a:pt x="11802317" y="0"/>
                </a:lnTo>
                <a:lnTo>
                  <a:pt x="11802317" y="5396519"/>
                </a:lnTo>
                <a:lnTo>
                  <a:pt x="0" y="5396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402" r="0" b="-440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82278" y="1581070"/>
            <a:ext cx="11228195" cy="179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6"/>
              </a:lnSpc>
            </a:pPr>
            <a:r>
              <a:rPr lang="en-US" sz="51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EDA HIGHLIGHT 1: MUTUAL FUND FOLIO GROWTH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82360" y="3086240"/>
            <a:ext cx="10775737" cy="6384361"/>
          </a:xfrm>
          <a:custGeom>
            <a:avLst/>
            <a:gdLst/>
            <a:ahLst/>
            <a:cxnLst/>
            <a:rect r="r" b="b" t="t" l="l"/>
            <a:pathLst>
              <a:path h="6384361" w="10775737">
                <a:moveTo>
                  <a:pt x="0" y="0"/>
                </a:moveTo>
                <a:lnTo>
                  <a:pt x="10775737" y="0"/>
                </a:lnTo>
                <a:lnTo>
                  <a:pt x="10775737" y="6384362"/>
                </a:lnTo>
                <a:lnTo>
                  <a:pt x="0" y="6384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18" r="0" b="-31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9903" y="942975"/>
            <a:ext cx="11228195" cy="16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6"/>
              </a:lnSpc>
            </a:pPr>
            <a:r>
              <a:rPr lang="en-US" sz="48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EDA HIGHLIGHT 2: SECTOR ALLOCATION ACROSS FUNDS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2026" y="2929547"/>
            <a:ext cx="11003949" cy="6533595"/>
          </a:xfrm>
          <a:custGeom>
            <a:avLst/>
            <a:gdLst/>
            <a:ahLst/>
            <a:cxnLst/>
            <a:rect r="r" b="b" t="t" l="l"/>
            <a:pathLst>
              <a:path h="6533595" w="11003949">
                <a:moveTo>
                  <a:pt x="0" y="0"/>
                </a:moveTo>
                <a:lnTo>
                  <a:pt x="11003948" y="0"/>
                </a:lnTo>
                <a:lnTo>
                  <a:pt x="11003948" y="6533595"/>
                </a:lnTo>
                <a:lnTo>
                  <a:pt x="0" y="65335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9903" y="1613035"/>
            <a:ext cx="11228195" cy="89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6"/>
              </a:lnSpc>
            </a:pPr>
            <a:r>
              <a:rPr lang="en-US" sz="52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PERFORMANCE METRICS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00016" y="2888357"/>
            <a:ext cx="11687969" cy="6369943"/>
          </a:xfrm>
          <a:custGeom>
            <a:avLst/>
            <a:gdLst/>
            <a:ahLst/>
            <a:cxnLst/>
            <a:rect r="r" b="b" t="t" l="l"/>
            <a:pathLst>
              <a:path h="6369943" w="11687969">
                <a:moveTo>
                  <a:pt x="0" y="0"/>
                </a:moveTo>
                <a:lnTo>
                  <a:pt x="11687968" y="0"/>
                </a:lnTo>
                <a:lnTo>
                  <a:pt x="11687968" y="6369943"/>
                </a:lnTo>
                <a:lnTo>
                  <a:pt x="0" y="6369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9903" y="1450714"/>
            <a:ext cx="11228195" cy="89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6"/>
              </a:lnSpc>
            </a:pPr>
            <a:r>
              <a:rPr lang="en-US" sz="52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PERFORMANCE METRICS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83394" y="2973364"/>
            <a:ext cx="11521213" cy="6451879"/>
          </a:xfrm>
          <a:custGeom>
            <a:avLst/>
            <a:gdLst/>
            <a:ahLst/>
            <a:cxnLst/>
            <a:rect r="r" b="b" t="t" l="l"/>
            <a:pathLst>
              <a:path h="6451879" w="11521213">
                <a:moveTo>
                  <a:pt x="0" y="0"/>
                </a:moveTo>
                <a:lnTo>
                  <a:pt x="11521212" y="0"/>
                </a:lnTo>
                <a:lnTo>
                  <a:pt x="11521212" y="6451879"/>
                </a:lnTo>
                <a:lnTo>
                  <a:pt x="0" y="64518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42026" y="1221543"/>
            <a:ext cx="11228195" cy="87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6"/>
              </a:lnSpc>
            </a:pPr>
            <a:r>
              <a:rPr lang="en-US" sz="51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2026" y="2840541"/>
            <a:ext cx="11054403" cy="6259556"/>
          </a:xfrm>
          <a:custGeom>
            <a:avLst/>
            <a:gdLst/>
            <a:ahLst/>
            <a:cxnLst/>
            <a:rect r="r" b="b" t="t" l="l"/>
            <a:pathLst>
              <a:path h="6259556" w="11054403">
                <a:moveTo>
                  <a:pt x="0" y="0"/>
                </a:moveTo>
                <a:lnTo>
                  <a:pt x="11054402" y="0"/>
                </a:lnTo>
                <a:lnTo>
                  <a:pt x="11054402" y="6259556"/>
                </a:lnTo>
                <a:lnTo>
                  <a:pt x="0" y="6259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39428" y="1471004"/>
            <a:ext cx="11228195" cy="87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6"/>
              </a:lnSpc>
            </a:pPr>
            <a:r>
              <a:rPr lang="en-US" sz="51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1914707"/>
            <a:ext cx="11228195" cy="9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54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FINDINGS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6516" y="3861722"/>
            <a:ext cx="12848894" cy="44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2"/>
              </a:lnSpc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Major Insights</a:t>
            </a:r>
          </a:p>
          <a:p>
            <a:pPr algn="just">
              <a:lnSpc>
                <a:spcPts val="4432"/>
              </a:lnSpc>
            </a:pP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Mutual fund participation increased significantly.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SIP investments grew consistently.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Risk-adjusted returns varied across schemes.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Investor behavior differed by demographics.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Portfolio concentration varied among funds.</a:t>
            </a:r>
          </a:p>
          <a:p>
            <a:pPr algn="just">
              <a:lnSpc>
                <a:spcPts val="44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4019574"/>
            <a:ext cx="14595024" cy="164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67"/>
              </a:lnSpc>
            </a:pPr>
            <a:r>
              <a:rPr lang="en-US" sz="9619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01185" y="7904989"/>
            <a:ext cx="4681061" cy="104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8"/>
              </a:lnSpc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TEJASHWINI.B</a:t>
            </a:r>
          </a:p>
          <a:p>
            <a:pPr algn="ctr">
              <a:lnSpc>
                <a:spcPts val="4268"/>
              </a:lnSpc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BLUESTOCK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DAHMpztJ0js</dc:identifier>
  <dcterms:modified xsi:type="dcterms:W3CDTF">2011-08-01T06:04:30Z</dcterms:modified>
  <cp:revision>1</cp:revision>
  <dc:title>Mutual Fund Analytics Platform</dc:title>
</cp:coreProperties>
</file>